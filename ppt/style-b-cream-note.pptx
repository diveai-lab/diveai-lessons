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1pPr>
    <a:lvl2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2pPr>
    <a:lvl3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3pPr>
    <a:lvl4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4pPr>
    <a:lvl5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5pPr>
    <a:lvl6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6pPr>
    <a:lvl7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7pPr>
    <a:lvl8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8pPr>
    <a:lvl9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Yuanti TC 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不動本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r>
              <a:t>AI 不只是聊天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30464" y="12912292"/>
            <a:ext cx="622847" cy="6223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or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FFBEC"/>
          </a:solidFill>
          <a:ln w="25400">
            <a:solidFill>
              <a:srgbClr val="F7E6A8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2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r>
              <a:t>AI 不只是聊天</a:t>
            </a:r>
          </a:p>
        </p:txBody>
      </p:sp>
      <p:sp>
        <p:nvSpPr>
          <p:cNvPr id="2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0" name="截圖 2026-08-01 上午11.57.43.png" descr="截圖 2026-08-01 上午11.57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73" y="707318"/>
            <a:ext cx="21246773" cy="11541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FFBEC"/>
          </a:solidFill>
          <a:ln w="25400">
            <a:solidFill>
              <a:srgbClr val="F7E6A8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3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r>
              <a:t>AI 不只是聊天</a:t>
            </a:r>
          </a:p>
        </p:txBody>
      </p:sp>
      <p:sp>
        <p:nvSpPr>
          <p:cNvPr id="3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只帶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FFBEC"/>
          </a:solidFill>
          <a:ln w="25400">
            <a:solidFill>
              <a:srgbClr val="F7E6A8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" name="圓角矩形"/>
          <p:cNvSpPr/>
          <p:nvPr/>
        </p:nvSpPr>
        <p:spPr>
          <a:xfrm>
            <a:off x="1271079" y="893581"/>
            <a:ext cx="21841842" cy="1601127"/>
          </a:xfrm>
          <a:prstGeom prst="roundRect">
            <a:avLst>
              <a:gd name="adj" fmla="val 50000"/>
            </a:avLst>
          </a:prstGeom>
          <a:solidFill>
            <a:srgbClr val="F4B3BE"/>
          </a:solidFill>
          <a:ln w="63500">
            <a:solidFill>
              <a:srgbClr val="DE8B9C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49" name="冒險01"/>
          <p:cNvSpPr txBox="1">
            <a:spLocks noGrp="1"/>
          </p:cNvSpPr>
          <p:nvPr>
            <p:ph type="body" sz="quarter" idx="21"/>
          </p:nvPr>
        </p:nvSpPr>
        <p:spPr>
          <a:xfrm>
            <a:off x="3444461" y="1065494"/>
            <a:ext cx="18981460" cy="12573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lnSpc>
                <a:spcPct val="80000"/>
              </a:lnSpc>
              <a:buSzTx/>
              <a:buNone/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sp>
        <p:nvSpPr>
          <p:cNvPr id="50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r>
              <a:t>AI 不只是聊天</a:t>
            </a:r>
          </a:p>
        </p:txBody>
      </p:sp>
      <p:pic>
        <p:nvPicPr>
          <p:cNvPr id="51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Jupyter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"/>
          <p:cNvSpPr/>
          <p:nvPr/>
        </p:nvSpPr>
        <p:spPr>
          <a:xfrm>
            <a:off x="459158" y="482427"/>
            <a:ext cx="23465684" cy="11743063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59" name="形狀"/>
          <p:cNvSpPr/>
          <p:nvPr/>
        </p:nvSpPr>
        <p:spPr>
          <a:xfrm>
            <a:off x="457200" y="495300"/>
            <a:ext cx="23465632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" y="0"/>
                </a:moveTo>
                <a:cubicBezTo>
                  <a:pt x="362" y="0"/>
                  <a:pt x="272" y="1"/>
                  <a:pt x="212" y="269"/>
                </a:cubicBezTo>
                <a:cubicBezTo>
                  <a:pt x="125" y="605"/>
                  <a:pt x="57" y="1333"/>
                  <a:pt x="25" y="2258"/>
                </a:cubicBezTo>
                <a:cubicBezTo>
                  <a:pt x="0" y="2900"/>
                  <a:pt x="0" y="3862"/>
                  <a:pt x="0" y="5466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5466"/>
                </a:lnTo>
                <a:cubicBezTo>
                  <a:pt x="21600" y="3862"/>
                  <a:pt x="21600" y="2900"/>
                  <a:pt x="21575" y="2258"/>
                </a:cubicBezTo>
                <a:cubicBezTo>
                  <a:pt x="21543" y="1333"/>
                  <a:pt x="21475" y="605"/>
                  <a:pt x="21388" y="269"/>
                </a:cubicBezTo>
                <a:cubicBezTo>
                  <a:pt x="21328" y="1"/>
                  <a:pt x="21238" y="0"/>
                  <a:pt x="21087" y="0"/>
                </a:cubicBezTo>
                <a:lnTo>
                  <a:pt x="513" y="0"/>
                </a:lnTo>
                <a:close/>
              </a:path>
            </a:pathLst>
          </a:custGeom>
          <a:solidFill>
            <a:srgbClr val="DEDED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60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F4B3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61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FFBEC"/>
          </a:solidFill>
          <a:ln w="25400">
            <a:solidFill>
              <a:srgbClr val="F7E6A8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圓形"/>
          <p:cNvSpPr/>
          <p:nvPr/>
        </p:nvSpPr>
        <p:spPr>
          <a:xfrm>
            <a:off x="1264449" y="1251573"/>
            <a:ext cx="514832" cy="514832"/>
          </a:xfrm>
          <a:prstGeom prst="ellipse">
            <a:avLst/>
          </a:prstGeom>
          <a:solidFill>
            <a:srgbClr val="EC6B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64" name="圓形"/>
          <p:cNvSpPr/>
          <p:nvPr/>
        </p:nvSpPr>
        <p:spPr>
          <a:xfrm>
            <a:off x="1942796" y="1251573"/>
            <a:ext cx="514831" cy="514832"/>
          </a:xfrm>
          <a:prstGeom prst="ellipse">
            <a:avLst/>
          </a:prstGeom>
          <a:solidFill>
            <a:srgbClr val="F4C0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65" name="圓形"/>
          <p:cNvSpPr/>
          <p:nvPr/>
        </p:nvSpPr>
        <p:spPr>
          <a:xfrm>
            <a:off x="2621142" y="1251573"/>
            <a:ext cx="514832" cy="514832"/>
          </a:xfrm>
          <a:prstGeom prst="ellipse">
            <a:avLst/>
          </a:prstGeom>
          <a:solidFill>
            <a:srgbClr val="62C75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66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r>
              <a:t>AI 不只是聊天</a:t>
            </a:r>
          </a:p>
        </p:txBody>
      </p:sp>
      <p:sp>
        <p:nvSpPr>
          <p:cNvPr id="67" name="圓角矩形"/>
          <p:cNvSpPr/>
          <p:nvPr/>
        </p:nvSpPr>
        <p:spPr>
          <a:xfrm>
            <a:off x="4819624" y="893581"/>
            <a:ext cx="18293297" cy="1601127"/>
          </a:xfrm>
          <a:prstGeom prst="roundRect">
            <a:avLst>
              <a:gd name="adj" fmla="val 50000"/>
            </a:avLst>
          </a:prstGeom>
          <a:solidFill>
            <a:srgbClr val="F4B3BE"/>
          </a:solidFill>
          <a:ln w="63500">
            <a:solidFill>
              <a:srgbClr val="DE8B9C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68" name="冒險01"/>
          <p:cNvSpPr txBox="1"/>
          <p:nvPr/>
        </p:nvSpPr>
        <p:spPr>
          <a:xfrm>
            <a:off x="6952571" y="1065494"/>
            <a:ext cx="15694468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pic>
        <p:nvPicPr>
          <p:cNvPr id="69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6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1">
    <p:bg>
      <p:bgPr>
        <a:solidFill>
          <a:srgbClr val="EA8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EAAEC2"/>
          </a:solidFill>
          <a:ln w="12700">
            <a:miter lim="400000"/>
          </a:ln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77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8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471131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79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01.</a:t>
            </a:r>
          </a:p>
        </p:txBody>
      </p:sp>
      <p:sp>
        <p:nvSpPr>
          <p:cNvPr id="8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2">
    <p:bg>
      <p:bgPr>
        <a:solidFill>
          <a:srgbClr val="85B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CCA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88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9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90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01.</a:t>
            </a:r>
          </a:p>
        </p:txBody>
      </p:sp>
      <p:sp>
        <p:nvSpPr>
          <p:cNvPr id="9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3">
    <p:bg>
      <p:bgPr>
        <a:solidFill>
          <a:srgbClr val="9F5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E757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99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0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01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01.</a:t>
            </a:r>
          </a:p>
        </p:txBody>
      </p:sp>
      <p:sp>
        <p:nvSpPr>
          <p:cNvPr id="10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4">
    <p:bg>
      <p:bgPr>
        <a:solidFill>
          <a:srgbClr val="818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8AAE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110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12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01.</a:t>
            </a:r>
          </a:p>
        </p:txBody>
      </p:sp>
      <p:sp>
        <p:nvSpPr>
          <p:cNvPr id="1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5">
    <p:bg>
      <p:bgPr>
        <a:solidFill>
          <a:srgbClr val="74C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5C9B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121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23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01.</a:t>
            </a:r>
          </a:p>
        </p:txBody>
      </p:sp>
      <p:sp>
        <p:nvSpPr>
          <p:cNvPr id="12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DE8B9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15152" y="12772592"/>
            <a:ext cx="653470" cy="762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3600" b="1">
                <a:solidFill>
                  <a:srgbClr val="8A5560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5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1pPr>
      <a:lvl2pPr marL="1219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2pPr>
      <a:lvl3pPr marL="1828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3pPr>
      <a:lvl4pPr marL="2438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4pPr>
      <a:lvl5pPr marL="30480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5pPr>
      <a:lvl6pPr marL="3657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6pPr>
      <a:lvl7pPr marL="4267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7pPr>
      <a:lvl8pPr marL="4876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8pPr>
      <a:lvl9pPr marL="5486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Yuanti TC Bold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anti TC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4" name="學習 AI 的三大認知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學習 AI 的三大認知</a:t>
            </a:r>
          </a:p>
        </p:txBody>
      </p:sp>
      <p:grpSp>
        <p:nvGrpSpPr>
          <p:cNvPr id="137" name="群組"/>
          <p:cNvGrpSpPr/>
          <p:nvPr/>
        </p:nvGrpSpPr>
        <p:grpSpPr>
          <a:xfrm>
            <a:off x="2853354" y="3726913"/>
            <a:ext cx="9906001" cy="1838055"/>
            <a:chOff x="0" y="0"/>
            <a:chExt cx="9906000" cy="1838053"/>
          </a:xfrm>
        </p:grpSpPr>
        <p:sp>
          <p:nvSpPr>
            <p:cNvPr id="135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FDEDF0"/>
            </a:solidFill>
            <a:ln w="63500" cap="flat">
              <a:solidFill>
                <a:srgbClr val="F4B3BE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Yuanti TC Bold"/>
                  <a:ea typeface="Yuanti TC Bold"/>
                  <a:cs typeface="Yuanti TC Bold"/>
                  <a:sym typeface="Yuanti TC Bold"/>
                </a:defRPr>
              </a:pPr>
              <a:endParaRPr/>
            </a:p>
          </p:txBody>
        </p:sp>
        <p:sp>
          <p:nvSpPr>
            <p:cNvPr id="136" name="別幻想 AI 自動搞定一切"/>
            <p:cNvSpPr txBox="1"/>
            <p:nvPr/>
          </p:nvSpPr>
          <p:spPr>
            <a:xfrm>
              <a:off x="630597" y="356858"/>
              <a:ext cx="6469177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dirty="0" err="1"/>
                <a:t>別幻想</a:t>
              </a:r>
              <a:r>
                <a:rPr dirty="0"/>
                <a:t> AI </a:t>
              </a:r>
              <a:r>
                <a:rPr dirty="0" err="1"/>
                <a:t>自動搞定一切</a:t>
              </a:r>
              <a:endParaRPr dirty="0"/>
            </a:p>
          </p:txBody>
        </p:sp>
      </p:grpSp>
      <p:grpSp>
        <p:nvGrpSpPr>
          <p:cNvPr id="140" name="群組"/>
          <p:cNvGrpSpPr/>
          <p:nvPr/>
        </p:nvGrpSpPr>
        <p:grpSpPr>
          <a:xfrm>
            <a:off x="2852965" y="6765423"/>
            <a:ext cx="9906780" cy="1838054"/>
            <a:chOff x="0" y="0"/>
            <a:chExt cx="9906779" cy="1838053"/>
          </a:xfrm>
        </p:grpSpPr>
        <p:sp>
          <p:nvSpPr>
            <p:cNvPr id="138" name="圓角矩形"/>
            <p:cNvSpPr/>
            <p:nvPr/>
          </p:nvSpPr>
          <p:spPr>
            <a:xfrm>
              <a:off x="0" y="0"/>
              <a:ext cx="9906780" cy="1838054"/>
            </a:xfrm>
            <a:prstGeom prst="roundRect">
              <a:avLst>
                <a:gd name="adj" fmla="val 50000"/>
              </a:avLst>
            </a:prstGeom>
            <a:solidFill>
              <a:srgbClr val="FFF7E0"/>
            </a:solidFill>
            <a:ln w="63500" cap="flat">
              <a:solidFill>
                <a:srgbClr val="E8C46A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Yuanti TC Bold"/>
                  <a:ea typeface="Yuanti TC Bold"/>
                  <a:cs typeface="Yuanti TC Bold"/>
                  <a:sym typeface="Yuanti TC Bold"/>
                </a:defRPr>
              </a:pPr>
              <a:endParaRPr/>
            </a:p>
          </p:txBody>
        </p:sp>
        <p:sp>
          <p:nvSpPr>
            <p:cNvPr id="139" name="Demo 一個週末，產品一個十年"/>
            <p:cNvSpPr txBox="1"/>
            <p:nvPr/>
          </p:nvSpPr>
          <p:spPr>
            <a:xfrm>
              <a:off x="595039" y="315747"/>
              <a:ext cx="87167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Demo 一個週末，產品一個十年</a:t>
              </a:r>
            </a:p>
          </p:txBody>
        </p:sp>
      </p:grpSp>
      <p:grpSp>
        <p:nvGrpSpPr>
          <p:cNvPr id="143" name="群組"/>
          <p:cNvGrpSpPr/>
          <p:nvPr/>
        </p:nvGrpSpPr>
        <p:grpSpPr>
          <a:xfrm>
            <a:off x="2853354" y="9949667"/>
            <a:ext cx="9906001" cy="1838055"/>
            <a:chOff x="0" y="0"/>
            <a:chExt cx="9906000" cy="1838053"/>
          </a:xfrm>
        </p:grpSpPr>
        <p:sp>
          <p:nvSpPr>
            <p:cNvPr id="141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E4F5F4"/>
            </a:solidFill>
            <a:ln w="63500" cap="flat">
              <a:solidFill>
                <a:srgbClr val="7CCBC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Yuanti TC Bold"/>
                  <a:ea typeface="Yuanti TC Bold"/>
                  <a:cs typeface="Yuanti TC Bold"/>
                  <a:sym typeface="Yuanti TC Bold"/>
                </a:defRPr>
              </a:pPr>
              <a:endParaRPr/>
            </a:p>
          </p:txBody>
        </p:sp>
        <p:sp>
          <p:nvSpPr>
            <p:cNvPr id="142" name="別追工具，追你要解決的問題"/>
            <p:cNvSpPr txBox="1"/>
            <p:nvPr/>
          </p:nvSpPr>
          <p:spPr>
            <a:xfrm>
              <a:off x="542961" y="322126"/>
              <a:ext cx="80391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別追工具，追你要解決的問題</a:t>
              </a:r>
            </a:p>
          </p:txBody>
        </p:sp>
      </p:grpSp>
      <p:sp>
        <p:nvSpPr>
          <p:cNvPr id="144" name="圓角矩形"/>
          <p:cNvSpPr/>
          <p:nvPr/>
        </p:nvSpPr>
        <p:spPr>
          <a:xfrm>
            <a:off x="3439249" y="3023384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C4707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145" name="懂原理"/>
          <p:cNvSpPr txBox="1"/>
          <p:nvPr/>
        </p:nvSpPr>
        <p:spPr>
          <a:xfrm>
            <a:off x="3941631" y="3087068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懂原理</a:t>
            </a:r>
          </a:p>
        </p:txBody>
      </p:sp>
      <p:sp>
        <p:nvSpPr>
          <p:cNvPr id="146" name="圓角矩形"/>
          <p:cNvSpPr/>
          <p:nvPr/>
        </p:nvSpPr>
        <p:spPr>
          <a:xfrm>
            <a:off x="3439249" y="5977296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C4707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147" name="懂差距"/>
          <p:cNvSpPr txBox="1"/>
          <p:nvPr/>
        </p:nvSpPr>
        <p:spPr>
          <a:xfrm>
            <a:off x="3941631" y="6040980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懂差距</a:t>
            </a:r>
          </a:p>
        </p:txBody>
      </p:sp>
      <p:sp>
        <p:nvSpPr>
          <p:cNvPr id="148" name="圓角矩形"/>
          <p:cNvSpPr/>
          <p:nvPr/>
        </p:nvSpPr>
        <p:spPr>
          <a:xfrm>
            <a:off x="3439249" y="9323545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C4707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149" name="懂問題"/>
          <p:cNvSpPr txBox="1"/>
          <p:nvPr/>
        </p:nvSpPr>
        <p:spPr>
          <a:xfrm>
            <a:off x="3941631" y="9387229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lvl1pPr>
          </a:lstStyle>
          <a:p>
            <a:r>
              <a:t>懂問題</a:t>
            </a:r>
          </a:p>
        </p:txBody>
      </p:sp>
      <p:pic>
        <p:nvPicPr>
          <p:cNvPr id="150" name="girl_yp.png" descr="girl_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788" y="3232919"/>
            <a:ext cx="6742729" cy="101140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53" name="AI 學習的重點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學習的重點</a:t>
            </a:r>
          </a:p>
        </p:txBody>
      </p:sp>
      <p:sp>
        <p:nvSpPr>
          <p:cNvPr id="154" name="泡泡引言框"/>
          <p:cNvSpPr/>
          <p:nvPr/>
        </p:nvSpPr>
        <p:spPr>
          <a:xfrm>
            <a:off x="5992636" y="4530818"/>
            <a:ext cx="7522370" cy="3397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374" y="0"/>
                </a:moveTo>
                <a:cubicBezTo>
                  <a:pt x="1063" y="0"/>
                  <a:pt x="0" y="2353"/>
                  <a:pt x="0" y="5256"/>
                </a:cubicBezTo>
                <a:lnTo>
                  <a:pt x="0" y="16344"/>
                </a:lnTo>
                <a:cubicBezTo>
                  <a:pt x="0" y="19247"/>
                  <a:pt x="1063" y="21600"/>
                  <a:pt x="2374" y="21600"/>
                </a:cubicBezTo>
                <a:lnTo>
                  <a:pt x="17283" y="21600"/>
                </a:lnTo>
                <a:cubicBezTo>
                  <a:pt x="18594" y="21600"/>
                  <a:pt x="19657" y="19247"/>
                  <a:pt x="19657" y="16344"/>
                </a:cubicBezTo>
                <a:lnTo>
                  <a:pt x="19657" y="11235"/>
                </a:lnTo>
                <a:lnTo>
                  <a:pt x="21600" y="10022"/>
                </a:lnTo>
                <a:lnTo>
                  <a:pt x="19657" y="9078"/>
                </a:lnTo>
                <a:lnTo>
                  <a:pt x="19657" y="5256"/>
                </a:lnTo>
                <a:cubicBezTo>
                  <a:pt x="19657" y="2353"/>
                  <a:pt x="18594" y="0"/>
                  <a:pt x="17283" y="0"/>
                </a:cubicBezTo>
                <a:lnTo>
                  <a:pt x="2374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7A5F5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33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5" name="AI 的重點不是「data driven 的技術」*。"/>
          <p:cNvSpPr txBox="1"/>
          <p:nvPr/>
        </p:nvSpPr>
        <p:spPr>
          <a:xfrm>
            <a:off x="6655962" y="4845327"/>
            <a:ext cx="5008168" cy="276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的重點不是「</a:t>
            </a:r>
            <a:r>
              <a:rPr>
                <a:solidFill>
                  <a:srgbClr val="D2593F"/>
                </a:solidFill>
              </a:rPr>
              <a:t>data driven </a:t>
            </a:r>
            <a:r>
              <a:t>的</a:t>
            </a:r>
            <a:r>
              <a:rPr>
                <a:solidFill>
                  <a:srgbClr val="D2593F"/>
                </a:solidFill>
              </a:rPr>
              <a:t>技術</a:t>
            </a:r>
            <a:r>
              <a:t>」</a:t>
            </a:r>
            <a:r>
              <a:rPr>
                <a:solidFill>
                  <a:srgbClr val="D2593F"/>
                </a:solidFill>
              </a:rPr>
              <a:t>*</a:t>
            </a:r>
            <a:r>
              <a:t>。</a:t>
            </a:r>
          </a:p>
        </p:txBody>
      </p:sp>
      <p:sp>
        <p:nvSpPr>
          <p:cNvPr id="156" name="圓角矩形"/>
          <p:cNvSpPr/>
          <p:nvPr/>
        </p:nvSpPr>
        <p:spPr>
          <a:xfrm>
            <a:off x="7246440" y="11081591"/>
            <a:ext cx="10993642" cy="1270001"/>
          </a:xfrm>
          <a:prstGeom prst="roundRect">
            <a:avLst>
              <a:gd name="adj" fmla="val 39669"/>
            </a:avLst>
          </a:prstGeom>
          <a:solidFill>
            <a:srgbClr val="FBF0DC"/>
          </a:solidFill>
          <a:ln w="63500">
            <a:solidFill>
              <a:srgbClr val="C09257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157" name="雖然不是錯誤, 但可能是有害的概念。"/>
          <p:cNvSpPr txBox="1"/>
          <p:nvPr/>
        </p:nvSpPr>
        <p:spPr>
          <a:xfrm>
            <a:off x="7833106" y="11221291"/>
            <a:ext cx="1020417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雖然不是錯誤, 但可能是有害的概念。</a:t>
            </a:r>
          </a:p>
        </p:txBody>
      </p:sp>
      <p:pic>
        <p:nvPicPr>
          <p:cNvPr id="158" name="toto01.png" descr="toto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359" y="2779326"/>
            <a:ext cx="5710909" cy="85663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61" name="AI 本質上是呆萌型 AI 機器人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本質上是呆萌型 AI 機器人</a:t>
            </a:r>
          </a:p>
        </p:txBody>
      </p:sp>
      <p:sp>
        <p:nvSpPr>
          <p:cNvPr id="162" name="圓角矩形"/>
          <p:cNvSpPr/>
          <p:nvPr/>
        </p:nvSpPr>
        <p:spPr>
          <a:xfrm>
            <a:off x="5910447" y="10412092"/>
            <a:ext cx="11921115" cy="1270001"/>
          </a:xfrm>
          <a:prstGeom prst="roundRect">
            <a:avLst>
              <a:gd name="adj" fmla="val 39669"/>
            </a:avLst>
          </a:prstGeom>
          <a:solidFill>
            <a:srgbClr val="FBF0DC"/>
          </a:solidFill>
          <a:ln w="63500">
            <a:solidFill>
              <a:srgbClr val="C09257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Yuanti TC Bold"/>
                <a:ea typeface="Yuanti TC Bold"/>
                <a:cs typeface="Yuanti TC Bold"/>
                <a:sym typeface="Yuanti TC Bold"/>
              </a:defRPr>
            </a:pPr>
            <a:endParaRPr/>
          </a:p>
        </p:txBody>
      </p:sp>
      <p:sp>
        <p:nvSpPr>
          <p:cNvPr id="163" name="箭頭"/>
          <p:cNvSpPr/>
          <p:nvPr/>
        </p:nvSpPr>
        <p:spPr>
          <a:xfrm>
            <a:off x="8362310" y="5708103"/>
            <a:ext cx="1143476" cy="934050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F4B3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64" name="就是知道輸入是什麼、輸出是長什麼樣子"/>
          <p:cNvSpPr txBox="1"/>
          <p:nvPr/>
        </p:nvSpPr>
        <p:spPr>
          <a:xfrm>
            <a:off x="6327454" y="10551792"/>
            <a:ext cx="11087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就是知道輸入是什麼、輸出是長什麼樣子</a:t>
            </a:r>
          </a:p>
        </p:txBody>
      </p:sp>
      <p:sp>
        <p:nvSpPr>
          <p:cNvPr id="165" name="泡泡引言框"/>
          <p:cNvSpPr/>
          <p:nvPr/>
        </p:nvSpPr>
        <p:spPr>
          <a:xfrm>
            <a:off x="5674713" y="7520600"/>
            <a:ext cx="4573191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6" y="0"/>
                </a:moveTo>
                <a:cubicBezTo>
                  <a:pt x="867" y="0"/>
                  <a:pt x="0" y="2565"/>
                  <a:pt x="0" y="5730"/>
                </a:cubicBezTo>
                <a:lnTo>
                  <a:pt x="0" y="15870"/>
                </a:lnTo>
                <a:cubicBezTo>
                  <a:pt x="0" y="19035"/>
                  <a:pt x="867" y="21600"/>
                  <a:pt x="1936" y="21600"/>
                </a:cubicBezTo>
                <a:lnTo>
                  <a:pt x="18153" y="21600"/>
                </a:lnTo>
                <a:cubicBezTo>
                  <a:pt x="19222" y="21600"/>
                  <a:pt x="20091" y="19035"/>
                  <a:pt x="20091" y="15870"/>
                </a:cubicBezTo>
                <a:lnTo>
                  <a:pt x="20091" y="8315"/>
                </a:lnTo>
                <a:lnTo>
                  <a:pt x="21600" y="5253"/>
                </a:lnTo>
                <a:lnTo>
                  <a:pt x="19979" y="3872"/>
                </a:lnTo>
                <a:cubicBezTo>
                  <a:pt x="19717" y="1624"/>
                  <a:pt x="19001" y="0"/>
                  <a:pt x="18153" y="0"/>
                </a:cubicBezTo>
                <a:lnTo>
                  <a:pt x="1936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" name="箭頭"/>
          <p:cNvSpPr/>
          <p:nvPr/>
        </p:nvSpPr>
        <p:spPr>
          <a:xfrm>
            <a:off x="14236224" y="5814254"/>
            <a:ext cx="1143475" cy="934051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F4B3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69" name="群組"/>
          <p:cNvGrpSpPr/>
          <p:nvPr/>
        </p:nvGrpSpPr>
        <p:grpSpPr>
          <a:xfrm>
            <a:off x="9912773" y="4218354"/>
            <a:ext cx="3916463" cy="4125851"/>
            <a:chOff x="0" y="0"/>
            <a:chExt cx="3916462" cy="4125849"/>
          </a:xfrm>
        </p:grpSpPr>
        <p:pic>
          <p:nvPicPr>
            <p:cNvPr id="167" name="ai_model2.png" descr="ai_model2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3916463" cy="41258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8" name="fθ"/>
            <p:cNvSpPr txBox="1"/>
            <p:nvPr/>
          </p:nvSpPr>
          <p:spPr>
            <a:xfrm>
              <a:off x="1498348" y="2477325"/>
              <a:ext cx="919666" cy="127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7200" b="1">
                  <a:solidFill>
                    <a:srgbClr val="FFFFFF">
                      <a:alpha val="75538"/>
                    </a:srgbClr>
                  </a:solidFill>
                  <a:latin typeface="Skia"/>
                  <a:ea typeface="Skia"/>
                  <a:cs typeface="Skia"/>
                  <a:sym typeface="Skia"/>
                </a:defRPr>
              </a:pPr>
              <a:r>
                <a:t>f</a:t>
              </a:r>
              <a:r>
                <a:rPr sz="5700" baseline="-15789"/>
                <a:t>θ</a:t>
              </a:r>
            </a:p>
          </p:txBody>
        </p:sp>
      </p:grpSp>
      <p:sp>
        <p:nvSpPr>
          <p:cNvPr id="170" name="函數學習機"/>
          <p:cNvSpPr txBox="1"/>
          <p:nvPr/>
        </p:nvSpPr>
        <p:spPr>
          <a:xfrm>
            <a:off x="6097231" y="7747216"/>
            <a:ext cx="3300692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 函數學習機</a:t>
            </a:r>
          </a:p>
        </p:txBody>
      </p:sp>
      <p:sp>
        <p:nvSpPr>
          <p:cNvPr id="171" name="泡泡引言框"/>
          <p:cNvSpPr/>
          <p:nvPr/>
        </p:nvSpPr>
        <p:spPr>
          <a:xfrm>
            <a:off x="13472059" y="3584368"/>
            <a:ext cx="2925764" cy="1990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27" y="0"/>
                </a:moveTo>
                <a:cubicBezTo>
                  <a:pt x="1355" y="0"/>
                  <a:pt x="0" y="1991"/>
                  <a:pt x="0" y="4448"/>
                </a:cubicBezTo>
                <a:lnTo>
                  <a:pt x="0" y="12320"/>
                </a:lnTo>
                <a:cubicBezTo>
                  <a:pt x="0" y="14777"/>
                  <a:pt x="1355" y="16768"/>
                  <a:pt x="3027" y="16768"/>
                </a:cubicBezTo>
                <a:lnTo>
                  <a:pt x="5151" y="16768"/>
                </a:lnTo>
                <a:lnTo>
                  <a:pt x="3545" y="21600"/>
                </a:lnTo>
                <a:lnTo>
                  <a:pt x="7715" y="16768"/>
                </a:lnTo>
                <a:lnTo>
                  <a:pt x="18573" y="16768"/>
                </a:lnTo>
                <a:cubicBezTo>
                  <a:pt x="20245" y="16768"/>
                  <a:pt x="21600" y="14777"/>
                  <a:pt x="21600" y="12320"/>
                </a:cubicBezTo>
                <a:lnTo>
                  <a:pt x="21600" y="4448"/>
                </a:lnTo>
                <a:cubicBezTo>
                  <a:pt x="21600" y="1991"/>
                  <a:pt x="20245" y="0"/>
                  <a:pt x="18573" y="0"/>
                </a:cubicBezTo>
                <a:lnTo>
                  <a:pt x="3027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2" name="AI 模型"/>
          <p:cNvSpPr txBox="1"/>
          <p:nvPr/>
        </p:nvSpPr>
        <p:spPr>
          <a:xfrm>
            <a:off x="13894578" y="3810984"/>
            <a:ext cx="221452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模型</a:t>
            </a:r>
          </a:p>
        </p:txBody>
      </p:sp>
      <p:sp>
        <p:nvSpPr>
          <p:cNvPr id="173" name="泡泡引言框"/>
          <p:cNvSpPr/>
          <p:nvPr/>
        </p:nvSpPr>
        <p:spPr>
          <a:xfrm>
            <a:off x="13568630" y="7783525"/>
            <a:ext cx="5766198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18" y="0"/>
                </a:moveTo>
                <a:cubicBezTo>
                  <a:pt x="2421" y="0"/>
                  <a:pt x="1909" y="1287"/>
                  <a:pt x="1655" y="3145"/>
                </a:cubicBezTo>
                <a:lnTo>
                  <a:pt x="0" y="3583"/>
                </a:lnTo>
                <a:lnTo>
                  <a:pt x="1482" y="5946"/>
                </a:lnTo>
                <a:lnTo>
                  <a:pt x="1482" y="15870"/>
                </a:lnTo>
                <a:cubicBezTo>
                  <a:pt x="1482" y="19035"/>
                  <a:pt x="2170" y="21600"/>
                  <a:pt x="3018" y="21600"/>
                </a:cubicBezTo>
                <a:lnTo>
                  <a:pt x="20064" y="21600"/>
                </a:lnTo>
                <a:cubicBezTo>
                  <a:pt x="20913" y="21600"/>
                  <a:pt x="21600" y="19035"/>
                  <a:pt x="21600" y="15870"/>
                </a:cubicBezTo>
                <a:lnTo>
                  <a:pt x="21600" y="5730"/>
                </a:lnTo>
                <a:cubicBezTo>
                  <a:pt x="21600" y="2565"/>
                  <a:pt x="20913" y="0"/>
                  <a:pt x="20064" y="0"/>
                </a:cubicBezTo>
                <a:lnTo>
                  <a:pt x="3018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4" name="呆萌型 AI 機器人"/>
          <p:cNvSpPr txBox="1"/>
          <p:nvPr/>
        </p:nvSpPr>
        <p:spPr>
          <a:xfrm>
            <a:off x="14386833" y="8010141"/>
            <a:ext cx="52015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呆萌型 AI 機器人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>
          <a:alpha val="70167"/>
        </a:srgbClr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Yuanti TC Bold"/>
        <a:ea typeface="Yuanti TC Bold"/>
        <a:cs typeface="Yuanti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Yuanti TC Bold"/>
            <a:ea typeface="Yuanti TC Bold"/>
            <a:cs typeface="Yuanti TC Bold"/>
            <a:sym typeface="Yuanti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Yuanti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Yuanti TC Bold"/>
        <a:ea typeface="Yuanti TC Bold"/>
        <a:cs typeface="Yuanti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Yuanti TC Bold"/>
            <a:ea typeface="Yuanti TC Bold"/>
            <a:cs typeface="Yuanti TC Bold"/>
            <a:sym typeface="Yuanti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Yuanti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自訂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Noto Sans TC Thin Bold</vt:lpstr>
      <vt:lpstr>NotoSansTC-Thin_Bold</vt:lpstr>
      <vt:lpstr>Yuanti TC Bold</vt:lpstr>
      <vt:lpstr>Helvetica Neue</vt:lpstr>
      <vt:lpstr>Microsoft Sans Serif</vt:lpstr>
      <vt:lpstr>21_BasicWhite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炎龍 蔡</cp:lastModifiedBy>
  <cp:revision>1</cp:revision>
  <dcterms:modified xsi:type="dcterms:W3CDTF">2026-08-25T09:58:15Z</dcterms:modified>
</cp:coreProperties>
</file>