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1pPr>
    <a:lvl2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2pPr>
    <a:lvl3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3pPr>
    <a:lvl4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4pPr>
    <a:lvl5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5pPr>
    <a:lvl6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6pPr>
    <a:lvl7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7pPr>
    <a:lvl8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8pPr>
    <a:lvl9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不動本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30464" y="12912292"/>
            <a:ext cx="622847" cy="6223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or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2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2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0" name="截圖 2026-08-01 上午11.57.43.png" descr="截圖 2026-08-01 上午11.57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73" y="707318"/>
            <a:ext cx="21246773" cy="11541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3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3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只帶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" name="圓角矩形"/>
          <p:cNvSpPr/>
          <p:nvPr/>
        </p:nvSpPr>
        <p:spPr>
          <a:xfrm>
            <a:off x="1271079" y="893581"/>
            <a:ext cx="21841842" cy="1601127"/>
          </a:xfrm>
          <a:prstGeom prst="roundRect">
            <a:avLst>
              <a:gd name="adj" fmla="val 50000"/>
            </a:avLst>
          </a:prstGeom>
          <a:solidFill>
            <a:srgbClr val="8FCFE2"/>
          </a:solidFill>
          <a:ln w="63500">
            <a:solidFill>
              <a:srgbClr val="4E93A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49" name="冒險01"/>
          <p:cNvSpPr txBox="1">
            <a:spLocks noGrp="1"/>
          </p:cNvSpPr>
          <p:nvPr>
            <p:ph type="body" sz="quarter" idx="21"/>
          </p:nvPr>
        </p:nvSpPr>
        <p:spPr>
          <a:xfrm>
            <a:off x="3444461" y="1065494"/>
            <a:ext cx="18981460" cy="12573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lnSpc>
                <a:spcPct val="80000"/>
              </a:lnSpc>
              <a:buSzTx/>
              <a:buNone/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sp>
        <p:nvSpPr>
          <p:cNvPr id="50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pic>
        <p:nvPicPr>
          <p:cNvPr id="51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Jupyter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"/>
          <p:cNvSpPr/>
          <p:nvPr/>
        </p:nvSpPr>
        <p:spPr>
          <a:xfrm>
            <a:off x="459158" y="482427"/>
            <a:ext cx="23465684" cy="11743063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59" name="形狀"/>
          <p:cNvSpPr/>
          <p:nvPr/>
        </p:nvSpPr>
        <p:spPr>
          <a:xfrm>
            <a:off x="457200" y="495300"/>
            <a:ext cx="23465632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" y="0"/>
                </a:moveTo>
                <a:cubicBezTo>
                  <a:pt x="362" y="0"/>
                  <a:pt x="272" y="1"/>
                  <a:pt x="212" y="269"/>
                </a:cubicBezTo>
                <a:cubicBezTo>
                  <a:pt x="125" y="605"/>
                  <a:pt x="57" y="1333"/>
                  <a:pt x="25" y="2258"/>
                </a:cubicBezTo>
                <a:cubicBezTo>
                  <a:pt x="0" y="2900"/>
                  <a:pt x="0" y="3862"/>
                  <a:pt x="0" y="5466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5466"/>
                </a:lnTo>
                <a:cubicBezTo>
                  <a:pt x="21600" y="3862"/>
                  <a:pt x="21600" y="2900"/>
                  <a:pt x="21575" y="2258"/>
                </a:cubicBezTo>
                <a:cubicBezTo>
                  <a:pt x="21543" y="1333"/>
                  <a:pt x="21475" y="605"/>
                  <a:pt x="21388" y="269"/>
                </a:cubicBezTo>
                <a:cubicBezTo>
                  <a:pt x="21328" y="1"/>
                  <a:pt x="21238" y="0"/>
                  <a:pt x="21087" y="0"/>
                </a:cubicBezTo>
                <a:lnTo>
                  <a:pt x="513" y="0"/>
                </a:lnTo>
                <a:close/>
              </a:path>
            </a:pathLst>
          </a:custGeom>
          <a:solidFill>
            <a:srgbClr val="DEDED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0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8FCF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1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圓形"/>
          <p:cNvSpPr/>
          <p:nvPr/>
        </p:nvSpPr>
        <p:spPr>
          <a:xfrm>
            <a:off x="1264449" y="1251573"/>
            <a:ext cx="514832" cy="514832"/>
          </a:xfrm>
          <a:prstGeom prst="ellipse">
            <a:avLst/>
          </a:prstGeom>
          <a:solidFill>
            <a:srgbClr val="EC6B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4" name="圓形"/>
          <p:cNvSpPr/>
          <p:nvPr/>
        </p:nvSpPr>
        <p:spPr>
          <a:xfrm>
            <a:off x="1942796" y="1251573"/>
            <a:ext cx="514831" cy="514832"/>
          </a:xfrm>
          <a:prstGeom prst="ellipse">
            <a:avLst/>
          </a:prstGeom>
          <a:solidFill>
            <a:srgbClr val="F4C0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5" name="圓形"/>
          <p:cNvSpPr/>
          <p:nvPr/>
        </p:nvSpPr>
        <p:spPr>
          <a:xfrm>
            <a:off x="2621142" y="1251573"/>
            <a:ext cx="514832" cy="514832"/>
          </a:xfrm>
          <a:prstGeom prst="ellipse">
            <a:avLst/>
          </a:prstGeom>
          <a:solidFill>
            <a:srgbClr val="62C75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6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67" name="圓角矩形"/>
          <p:cNvSpPr/>
          <p:nvPr/>
        </p:nvSpPr>
        <p:spPr>
          <a:xfrm>
            <a:off x="4819624" y="893581"/>
            <a:ext cx="18293297" cy="1601127"/>
          </a:xfrm>
          <a:prstGeom prst="roundRect">
            <a:avLst>
              <a:gd name="adj" fmla="val 50000"/>
            </a:avLst>
          </a:prstGeom>
          <a:solidFill>
            <a:srgbClr val="8FCFE2"/>
          </a:solidFill>
          <a:ln w="63500">
            <a:solidFill>
              <a:srgbClr val="4E93A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8" name="冒險01"/>
          <p:cNvSpPr txBox="1"/>
          <p:nvPr/>
        </p:nvSpPr>
        <p:spPr>
          <a:xfrm>
            <a:off x="6952571" y="1065494"/>
            <a:ext cx="15694468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pic>
        <p:nvPicPr>
          <p:cNvPr id="69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6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1">
    <p:bg>
      <p:bgPr>
        <a:solidFill>
          <a:srgbClr val="EA8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EAAEC2"/>
          </a:solidFill>
          <a:ln w="12700">
            <a:miter lim="400000"/>
          </a:ln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77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8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471131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79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8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2">
    <p:bg>
      <p:bgPr>
        <a:solidFill>
          <a:srgbClr val="85B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CCA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88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9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90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9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3">
    <p:bg>
      <p:bgPr>
        <a:solidFill>
          <a:srgbClr val="9F5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E757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99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0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01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0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4">
    <p:bg>
      <p:bgPr>
        <a:solidFill>
          <a:srgbClr val="818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8AAE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10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12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5">
    <p:bg>
      <p:bgPr>
        <a:solidFill>
          <a:srgbClr val="74C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5C9B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21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23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2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5FA8C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15152" y="12772592"/>
            <a:ext cx="653470" cy="762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3600" b="1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5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1pPr>
      <a:lvl2pPr marL="1219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2pPr>
      <a:lvl3pPr marL="1828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3pPr>
      <a:lvl4pPr marL="2438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4pPr>
      <a:lvl5pPr marL="30480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5pPr>
      <a:lvl6pPr marL="3657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6pPr>
      <a:lvl7pPr marL="4267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7pPr>
      <a:lvl8pPr marL="4876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8pPr>
      <a:lvl9pPr marL="5486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92024" y="1285646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AI  不只是聊天</a:t>
            </a:r>
          </a:p>
        </p:txBody>
      </p:sp>
      <p:pic>
        <p:nvPicPr>
          <p:cNvPr id="902" name="Picture 90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2568102" cy="137160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1828800" y="4572000"/>
            <a:ext cx="207267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一起</a:t>
            </a:r>
            <a:r>
              <a:rPr sz="7600" b="1" i="0">
                <a:solidFill>
                  <a:srgbClr val="5FA8C4"/>
                </a:solidFill>
                <a:latin typeface="Noto Sans TC Bold"/>
                <a:ea typeface="Noto Sans TC Bold"/>
                <a:cs typeface="Noto Sans TC Bold"/>
              </a:rPr>
              <a:t>潛進 </a:t>
            </a:r>
            <a:r>
              <a:rPr sz="7600" b="1" i="0">
                <a:solidFill>
                  <a:srgbClr val="5FA8C4"/>
                </a:solidFill>
                <a:latin typeface="Noto Sans TC Bold"/>
                <a:ea typeface="Noto Sans TC Bold"/>
                <a:cs typeface="Noto Sans TC Bold"/>
              </a:rPr>
              <a:t>AI</a:t>
            </a:r>
            <a:r>
              <a:rPr sz="7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！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828800" y="7223760"/>
            <a:ext cx="1280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打造你的呆萌型 AI 機器人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1828800" y="3566160"/>
            <a:ext cx="6126479" cy="6096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呆一布 AI 共學實驗室・工作坊</a:t>
            </a:r>
          </a:p>
        </p:txBody>
      </p:sp>
      <p:pic>
        <p:nvPicPr>
          <p:cNvPr id="906" name="Picture 905" descr="dive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0" y="4206240"/>
            <a:ext cx="6138672" cy="6949440"/>
          </a:xfrm>
          <a:prstGeom prst="rect">
            <a:avLst/>
          </a:prstGeom>
        </p:spPr>
      </p:pic>
      <p:sp>
        <p:nvSpPr>
          <p:cNvPr id="907" name="Rounded Rectangle 906"/>
          <p:cNvSpPr/>
          <p:nvPr/>
        </p:nvSpPr>
        <p:spPr>
          <a:xfrm>
            <a:off x="12527280" y="5120640"/>
            <a:ext cx="4206240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3C4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6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跟我一起下水吧！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今天的潛水路線圖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3474720"/>
            <a:ext cx="4572000" cy="3291840"/>
          </a:xfrm>
          <a:prstGeom prst="roundRect">
            <a:avLst>
              <a:gd name="adj" fmla="val 16000"/>
            </a:avLst>
          </a:prstGeom>
          <a:solidFill>
            <a:srgbClr val="E9F4FA"/>
          </a:solidFill>
          <a:ln w="508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3611880" y="3063239"/>
            <a:ext cx="1005840" cy="1005840"/>
          </a:xfrm>
          <a:prstGeom prst="ellipse">
            <a:avLst/>
          </a:prstGeom>
          <a:solidFill>
            <a:srgbClr val="2E5C7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1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2194560" y="44348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餵它吃什麼？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輸入 → 輸出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7213701" y="3474720"/>
            <a:ext cx="4572000" cy="3291840"/>
          </a:xfrm>
          <a:prstGeom prst="roundRect">
            <a:avLst>
              <a:gd name="adj" fmla="val 16000"/>
            </a:avLst>
          </a:prstGeom>
          <a:solidFill>
            <a:srgbClr val="E4F5F4"/>
          </a:solidFill>
          <a:ln w="508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8996781" y="3063239"/>
            <a:ext cx="1005840" cy="1005840"/>
          </a:xfrm>
          <a:prstGeom prst="ellipse">
            <a:avLst/>
          </a:prstGeom>
          <a:solidFill>
            <a:srgbClr val="2E5C7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2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7579461" y="44348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變機率的魔法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發明 softmax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12598603" y="3474720"/>
            <a:ext cx="4572000" cy="3291840"/>
          </a:xfrm>
          <a:prstGeom prst="roundRect">
            <a:avLst>
              <a:gd name="adj" fmla="val 16000"/>
            </a:avLst>
          </a:prstGeom>
          <a:solidFill>
            <a:srgbClr val="FDEDF0"/>
          </a:solidFill>
          <a:ln w="50800">
            <a:solidFill>
              <a:srgbClr val="F4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14381683" y="3063239"/>
            <a:ext cx="1005840" cy="1005840"/>
          </a:xfrm>
          <a:prstGeom prst="ellipse">
            <a:avLst/>
          </a:prstGeom>
          <a:solidFill>
            <a:srgbClr val="2E5C7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3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2964363" y="44348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唬爛王的祕密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LLM 接龍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17983504" y="3474720"/>
            <a:ext cx="4572000" cy="3291840"/>
          </a:xfrm>
          <a:prstGeom prst="roundRect">
            <a:avLst>
              <a:gd name="adj" fmla="val 16000"/>
            </a:avLst>
          </a:prstGeom>
          <a:solidFill>
            <a:srgbClr val="FFF7E0"/>
          </a:solidFill>
          <a:ln w="50800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19766584" y="3063239"/>
            <a:ext cx="1005840" cy="1005840"/>
          </a:xfrm>
          <a:prstGeom prst="ellipse">
            <a:avLst/>
          </a:prstGeom>
          <a:solidFill>
            <a:srgbClr val="2E5C7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4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8349264" y="44348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教 AI 跑腿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AI Agents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1828800" y="7498079"/>
            <a:ext cx="2072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今天不是「我上課」，是 </a:t>
            </a:r>
            <a:r>
              <a:rPr sz="3000" b="1" i="0">
                <a:solidFill>
                  <a:srgbClr val="5FA8C4"/>
                </a:solidFill>
                <a:latin typeface="Yuanti TC Bold"/>
                <a:ea typeface="Yuanti TC Bold"/>
                <a:cs typeface="Yuanti TC Bold"/>
              </a:rPr>
              <a:t>你們動手、動口</a:t>
            </a:r>
            <a:r>
              <a:rPr sz="30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！</a:t>
            </a:r>
          </a:p>
        </p:txBody>
      </p:sp>
      <p:pic>
        <p:nvPicPr>
          <p:cNvPr id="914" name="Picture 913" descr="div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0" y="8229600"/>
            <a:ext cx="382868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先分組！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3017520"/>
            <a:ext cx="13898880" cy="2103120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 w="38100">
            <a:solidFill>
              <a:srgbClr val="5FA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2" name="TextBox 901"/>
          <p:cNvSpPr txBox="1"/>
          <p:nvPr/>
        </p:nvSpPr>
        <p:spPr>
          <a:xfrm>
            <a:off x="2377440" y="3474720"/>
            <a:ext cx="1280160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4–5 人一組・想一個呆萌隊名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先跟同組同學自我介紹，等等整場都用隊名一起闖關、計分。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1828800" y="5669279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383280" y="5714999"/>
            <a:ext cx="12344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每題每組都要有產出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23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不用完美，先講出來就對了。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1828800" y="7269479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2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383280" y="7315199"/>
            <a:ext cx="12344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一半的題目沒有標準答案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23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敢想、敢猜最重要。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1828800" y="886968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3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3383280" y="8915400"/>
            <a:ext cx="12344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敢說錯的組加分！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23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錯得有想法，比不敢開口更棒。</a:t>
            </a:r>
          </a:p>
        </p:txBody>
      </p:sp>
      <p:pic>
        <p:nvPicPr>
          <p:cNvPr id="909" name="Picture 908" descr="stude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6766560"/>
            <a:ext cx="2860132" cy="4754880"/>
          </a:xfrm>
          <a:prstGeom prst="rect">
            <a:avLst/>
          </a:prstGeom>
        </p:spPr>
      </p:pic>
      <p:pic>
        <p:nvPicPr>
          <p:cNvPr id="910" name="Picture 909" descr="studen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0" y="6766560"/>
            <a:ext cx="3277985" cy="4754880"/>
          </a:xfrm>
          <a:prstGeom prst="rect">
            <a:avLst/>
          </a:prstGeom>
        </p:spPr>
      </p:pic>
      <p:pic>
        <p:nvPicPr>
          <p:cNvPr id="911" name="Picture 910" descr="studen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0" y="6766560"/>
            <a:ext cx="3169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潛點 1｜餵呆一布吃什麼？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828800" y="3017520"/>
            <a:ext cx="207267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AI 很會學樣子、預測、生成，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但它不會自己知道要做什麼。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3657600" y="5760720"/>
            <a:ext cx="17007840" cy="2194560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 w="38100">
            <a:solidFill>
              <a:srgbClr val="5FA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206240" y="6217920"/>
            <a:ext cx="15910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所以我們的工作很簡單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很清楚地告訴呆一布兩件事：輸入是什麼、輸出是什麼。中間怎麼學，交給它。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5334152" y="8503920"/>
            <a:ext cx="3352800" cy="1463040"/>
          </a:xfrm>
          <a:prstGeom prst="roundRect">
            <a:avLst>
              <a:gd name="adj" fmla="val 22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輸入</a:t>
            </a:r>
          </a:p>
        </p:txBody>
      </p:sp>
      <p:sp>
        <p:nvSpPr>
          <p:cNvPr id="905" name="Right Arrow 904"/>
          <p:cNvSpPr/>
          <p:nvPr/>
        </p:nvSpPr>
        <p:spPr>
          <a:xfrm>
            <a:off x="9189872" y="896112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6" name="Picture 905" descr="div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480" y="8284464"/>
            <a:ext cx="1809922" cy="1901952"/>
          </a:xfrm>
          <a:prstGeom prst="rect">
            <a:avLst/>
          </a:prstGeom>
        </p:spPr>
      </p:pic>
      <p:sp>
        <p:nvSpPr>
          <p:cNvPr id="907" name="Right Arrow 906"/>
          <p:cNvSpPr/>
          <p:nvPr/>
        </p:nvSpPr>
        <p:spPr>
          <a:xfrm>
            <a:off x="14371472" y="896112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ounded Rectangle 907"/>
          <p:cNvSpPr/>
          <p:nvPr/>
        </p:nvSpPr>
        <p:spPr>
          <a:xfrm>
            <a:off x="15697352" y="8503920"/>
            <a:ext cx="3352800" cy="1463040"/>
          </a:xfrm>
          <a:prstGeom prst="roundRect">
            <a:avLst>
              <a:gd name="adj" fmla="val 22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輸出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打造「股價預測」機器人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2578608"/>
            <a:ext cx="2766060" cy="5588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🙋 全班搶答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4876952" y="3566160"/>
            <a:ext cx="3657600" cy="1645920"/>
          </a:xfrm>
          <a:prstGeom prst="roundRect">
            <a:avLst>
              <a:gd name="adj" fmla="val 22000"/>
            </a:avLst>
          </a:prstGeom>
          <a:solidFill>
            <a:srgbClr val="F4FAFC"/>
          </a:solidFill>
          <a:ln w="381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輸入＝？</a:t>
            </a:r>
          </a:p>
        </p:txBody>
      </p:sp>
      <p:sp>
        <p:nvSpPr>
          <p:cNvPr id="903" name="Right Arrow 902"/>
          <p:cNvSpPr/>
          <p:nvPr/>
        </p:nvSpPr>
        <p:spPr>
          <a:xfrm>
            <a:off x="9037472" y="411480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4" name="Picture 903" descr="dive_th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896" y="3319272"/>
            <a:ext cx="1725561" cy="2139696"/>
          </a:xfrm>
          <a:prstGeom prst="rect">
            <a:avLst/>
          </a:prstGeom>
        </p:spPr>
      </p:pic>
      <p:sp>
        <p:nvSpPr>
          <p:cNvPr id="905" name="Right Arrow 904"/>
          <p:cNvSpPr/>
          <p:nvPr/>
        </p:nvSpPr>
        <p:spPr>
          <a:xfrm>
            <a:off x="14523872" y="411480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ounded Rectangle 905"/>
          <p:cNvSpPr/>
          <p:nvPr/>
        </p:nvSpPr>
        <p:spPr>
          <a:xfrm>
            <a:off x="15849752" y="3566160"/>
            <a:ext cx="3657600" cy="1645920"/>
          </a:xfrm>
          <a:prstGeom prst="roundRect">
            <a:avLst>
              <a:gd name="adj" fmla="val 22000"/>
            </a:avLst>
          </a:prstGeom>
          <a:solidFill>
            <a:srgbClr val="F4FAFC"/>
          </a:solidFill>
          <a:ln w="381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輸出＝？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3200400" y="6858000"/>
            <a:ext cx="15544800" cy="2194560"/>
          </a:xfrm>
          <a:prstGeom prst="roundRect">
            <a:avLst>
              <a:gd name="adj" fmla="val 12000"/>
            </a:avLst>
          </a:prstGeom>
          <a:solidFill>
            <a:srgbClr val="FDEDF0"/>
          </a:solidFill>
          <a:ln w="38100">
            <a:solidFill>
              <a:srgbClr val="F4B3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3749039" y="7315200"/>
            <a:ext cx="1444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規則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想到什麼就喊出來——答案很多種都對！只要你那組有人開口，就加分。</a:t>
            </a:r>
          </a:p>
        </p:txBody>
      </p:sp>
      <p:pic>
        <p:nvPicPr>
          <p:cNvPr id="909" name="Picture 908" descr="dive_th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0" y="8503920"/>
            <a:ext cx="3097161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預測某校的「學測分數」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2578608"/>
            <a:ext cx="2766060" cy="5588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👥 小組討論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4876952" y="3566160"/>
            <a:ext cx="3657600" cy="1645920"/>
          </a:xfrm>
          <a:prstGeom prst="roundRect">
            <a:avLst>
              <a:gd name="adj" fmla="val 22000"/>
            </a:avLst>
          </a:prstGeom>
          <a:solidFill>
            <a:srgbClr val="F4FAFC"/>
          </a:solidFill>
          <a:ln w="381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輸入＝？</a:t>
            </a:r>
          </a:p>
        </p:txBody>
      </p:sp>
      <p:sp>
        <p:nvSpPr>
          <p:cNvPr id="903" name="Right Arrow 902"/>
          <p:cNvSpPr/>
          <p:nvPr/>
        </p:nvSpPr>
        <p:spPr>
          <a:xfrm>
            <a:off x="9037472" y="411480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4" name="Picture 903" descr="div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896" y="3319272"/>
            <a:ext cx="2036162" cy="2139696"/>
          </a:xfrm>
          <a:prstGeom prst="rect">
            <a:avLst/>
          </a:prstGeom>
        </p:spPr>
      </p:pic>
      <p:sp>
        <p:nvSpPr>
          <p:cNvPr id="905" name="Right Arrow 904"/>
          <p:cNvSpPr/>
          <p:nvPr/>
        </p:nvSpPr>
        <p:spPr>
          <a:xfrm>
            <a:off x="14523872" y="411480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ounded Rectangle 905"/>
          <p:cNvSpPr/>
          <p:nvPr/>
        </p:nvSpPr>
        <p:spPr>
          <a:xfrm>
            <a:off x="15849752" y="3566160"/>
            <a:ext cx="3657600" cy="1645920"/>
          </a:xfrm>
          <a:prstGeom prst="roundRect">
            <a:avLst>
              <a:gd name="adj" fmla="val 22000"/>
            </a:avLst>
          </a:prstGeom>
          <a:solidFill>
            <a:srgbClr val="F4FAFC"/>
          </a:solidFill>
          <a:ln w="381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輸出＝？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3200400" y="6858000"/>
            <a:ext cx="15544800" cy="2377440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 w="38100">
            <a:solidFill>
              <a:srgbClr val="5FA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3749039" y="7315200"/>
            <a:ext cx="1444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先天馬行空，再問自己一句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你想到的那些輸入資料，真的拿得到嗎？好不好收集？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算出「這一餐的營養成分」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2578608"/>
            <a:ext cx="2766060" cy="5588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👥 小組討論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840480"/>
            <a:ext cx="6035040" cy="4023360"/>
          </a:xfrm>
          <a:prstGeom prst="roundRect">
            <a:avLst>
              <a:gd name="adj" fmla="val 16000"/>
            </a:avLst>
          </a:prstGeom>
          <a:solidFill>
            <a:srgbClr val="E9F4FA"/>
          </a:solidFill>
          <a:ln w="508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Rounded Rectangle 902"/>
          <p:cNvSpPr/>
          <p:nvPr/>
        </p:nvSpPr>
        <p:spPr>
          <a:xfrm>
            <a:off x="2286000" y="3429000"/>
            <a:ext cx="217932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雷點 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2423160" y="4526280"/>
            <a:ext cx="484632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別把輸入輸出搞反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「我吃了幾克蛋白質」是答案，不是輸入喔。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9174632" y="3840480"/>
            <a:ext cx="6035040" cy="4023360"/>
          </a:xfrm>
          <a:prstGeom prst="roundRect">
            <a:avLst>
              <a:gd name="adj" fmla="val 16000"/>
            </a:avLst>
          </a:prstGeom>
          <a:solidFill>
            <a:srgbClr val="E4F5F4"/>
          </a:solidFill>
          <a:ln w="508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6" name="Rounded Rectangle 905"/>
          <p:cNvSpPr/>
          <p:nvPr/>
        </p:nvSpPr>
        <p:spPr>
          <a:xfrm>
            <a:off x="9631832" y="3429000"/>
            <a:ext cx="217932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雷點 2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9768992" y="4526280"/>
            <a:ext cx="484632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輸出不是固定長度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營養成分是一長串，跟「漲／跌」很不一樣。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16520464" y="3840480"/>
            <a:ext cx="6035040" cy="4023360"/>
          </a:xfrm>
          <a:prstGeom prst="roundRect">
            <a:avLst>
              <a:gd name="adj" fmla="val 16000"/>
            </a:avLst>
          </a:prstGeom>
          <a:solidFill>
            <a:srgbClr val="FDEDF0"/>
          </a:solidFill>
          <a:ln w="50800">
            <a:solidFill>
              <a:srgbClr val="F4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9" name="Rounded Rectangle 908"/>
          <p:cNvSpPr/>
          <p:nvPr/>
        </p:nvSpPr>
        <p:spPr>
          <a:xfrm>
            <a:off x="16977664" y="3429000"/>
            <a:ext cx="217932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雷點 3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17114824" y="4526280"/>
            <a:ext cx="484632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一個 AI 不必包辦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可以先「拍照 → 認出食物」，再交給下一步。</a:t>
            </a:r>
          </a:p>
        </p:txBody>
      </p:sp>
      <p:pic>
        <p:nvPicPr>
          <p:cNvPr id="911" name="Picture 910" descr="dive_conf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0" y="8778240"/>
            <a:ext cx="3071204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設計你自己的呆一布！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2578608"/>
            <a:ext cx="2766060" cy="5588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👥 小組任務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828800" y="3840480"/>
            <a:ext cx="207267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想一個你真心想要的 AI 機器人，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越貼近生活越好。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200400" y="6675120"/>
            <a:ext cx="15087600" cy="2377440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 w="38100">
            <a:solidFill>
              <a:srgbClr val="5FA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3749039" y="7132320"/>
            <a:ext cx="1399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每組寫下三件事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① 它的輸入是什麼　② 輸出是什麼　③ 你為什麼想要它</a:t>
            </a:r>
          </a:p>
        </p:txBody>
      </p:sp>
      <p:pic>
        <p:nvPicPr>
          <p:cNvPr id="905" name="Picture 904" descr="dive_ch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0" y="7863840"/>
            <a:ext cx="402306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潛點 2｜分數怎麼變機率？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828800" y="3017520"/>
            <a:ext cx="20726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呆一布看了一張圖，吐出三個分數：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3962552" y="3931920"/>
            <a:ext cx="4754880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508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3962552" y="416052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🐱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貓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5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2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9814712" y="3931920"/>
            <a:ext cx="4754880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508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5" name="TextBox 904"/>
          <p:cNvSpPr txBox="1"/>
          <p:nvPr/>
        </p:nvSpPr>
        <p:spPr>
          <a:xfrm>
            <a:off x="9814712" y="416052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🐶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狗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5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1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15666872" y="3931920"/>
            <a:ext cx="4754880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50800">
            <a:solidFill>
              <a:srgbClr val="F4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15666872" y="416052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🐰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兔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5000" b="1" i="0">
                <a:solidFill>
                  <a:srgbClr val="E2725C"/>
                </a:solidFill>
                <a:latin typeface="Noto Sans TC Bold"/>
                <a:ea typeface="Noto Sans TC Bold"/>
                <a:cs typeface="Noto Sans TC Bold"/>
              </a:rPr>
              <a:t>−1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3657600" y="7589520"/>
            <a:ext cx="17007840" cy="2377440"/>
          </a:xfrm>
          <a:prstGeom prst="roundRect">
            <a:avLst>
              <a:gd name="adj" fmla="val 14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4206240" y="7909559"/>
            <a:ext cx="159105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它要說「我有 </a:t>
            </a:r>
            <a:r>
              <a:rPr sz="3000" b="1" i="0">
                <a:solidFill>
                  <a:srgbClr val="5FA8C4"/>
                </a:solidFill>
                <a:latin typeface="Noto Sans TC Bold"/>
                <a:ea typeface="Noto Sans TC Bold"/>
                <a:cs typeface="Noto Sans TC Bold"/>
              </a:rPr>
              <a:t>70%</a:t>
            </a:r>
            <a:r>
              <a:rPr sz="26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 確定是貓」——這 70% 哪來的？</a:t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22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規則只有一條：所有機率加起來 ＝ 1，而且每個都 ≥ 0。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你來發明！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2578608"/>
            <a:ext cx="4232910" cy="5588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📄 學習單・10 分鐘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749039"/>
            <a:ext cx="14996159" cy="1920240"/>
          </a:xfrm>
          <a:prstGeom prst="roundRect">
            <a:avLst>
              <a:gd name="adj" fmla="val 16000"/>
            </a:avLst>
          </a:prstGeom>
          <a:solidFill>
            <a:srgbClr val="E9F4FA"/>
          </a:solidFill>
          <a:ln w="508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Rounded Rectangle 902"/>
          <p:cNvSpPr/>
          <p:nvPr/>
        </p:nvSpPr>
        <p:spPr>
          <a:xfrm>
            <a:off x="2286000" y="3383279"/>
            <a:ext cx="188595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第一關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2560320" y="4251959"/>
            <a:ext cx="13898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直接「除以總和」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算算看兔子的機率 → 會算出 −0.5，怪怪的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1828800" y="6035040"/>
            <a:ext cx="14996159" cy="1920240"/>
          </a:xfrm>
          <a:prstGeom prst="roundRect">
            <a:avLst>
              <a:gd name="adj" fmla="val 16000"/>
            </a:avLst>
          </a:prstGeom>
          <a:solidFill>
            <a:srgbClr val="E4F5F4"/>
          </a:solidFill>
          <a:ln w="508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6" name="Rounded Rectangle 905"/>
          <p:cNvSpPr/>
          <p:nvPr/>
        </p:nvSpPr>
        <p:spPr>
          <a:xfrm>
            <a:off x="2286000" y="5669279"/>
            <a:ext cx="188595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第二關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2560320" y="6537959"/>
            <a:ext cx="13898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那「取絕對值再除」呢？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檢查貓＞狗＞兔的大小順序有沒有被弄壞。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1828800" y="8321040"/>
            <a:ext cx="14996159" cy="1920240"/>
          </a:xfrm>
          <a:prstGeom prst="roundRect">
            <a:avLst>
              <a:gd name="adj" fmla="val 16000"/>
            </a:avLst>
          </a:prstGeom>
          <a:solidFill>
            <a:srgbClr val="FDEDF0"/>
          </a:solidFill>
          <a:ln w="50800">
            <a:solidFill>
              <a:srgbClr val="F4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9" name="Rounded Rectangle 908"/>
          <p:cNvSpPr/>
          <p:nvPr/>
        </p:nvSpPr>
        <p:spPr>
          <a:xfrm>
            <a:off x="2286000" y="7955279"/>
            <a:ext cx="188595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第三關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2560320" y="8823960"/>
            <a:ext cx="13898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想一個辦法…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讓所有數字「都變正、順序又不變」。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17282160" y="3840480"/>
            <a:ext cx="5120640" cy="182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3C4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數學課有個函數，輸入任何數、輸出永遠是正的？</a:t>
            </a:r>
          </a:p>
        </p:txBody>
      </p:sp>
      <p:pic>
        <p:nvPicPr>
          <p:cNvPr id="912" name="Picture 911" descr="dive_th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0" y="6126479"/>
            <a:ext cx="339212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揭曉：你發明了 softmax！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3017520"/>
            <a:ext cx="448056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8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e² ≈ 7.39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7244181" y="3017520"/>
            <a:ext cx="448056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8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e¹ ≈ 2.72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12659563" y="3017520"/>
            <a:ext cx="448056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8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e⁻¹ ≈ 0.37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18074944" y="3017520"/>
            <a:ext cx="448056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8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總和 ≈ 10.48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828800" y="4937759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🐱 貓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4480560" y="4983480"/>
            <a:ext cx="14630400" cy="777240"/>
          </a:xfrm>
          <a:prstGeom prst="rect">
            <a:avLst/>
          </a:prstGeom>
          <a:solidFill>
            <a:srgbClr val="E9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4480560" y="4983480"/>
            <a:ext cx="10241280" cy="777240"/>
          </a:xfrm>
          <a:prstGeom prst="rect">
            <a:avLst/>
          </a:prstGeom>
          <a:solidFill>
            <a:srgbClr val="5F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19476720" y="4937759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70%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828800" y="6172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🐶 狗</a:t>
            </a:r>
          </a:p>
        </p:txBody>
      </p:sp>
      <p:sp>
        <p:nvSpPr>
          <p:cNvPr id="910" name="Rectangle 909"/>
          <p:cNvSpPr/>
          <p:nvPr/>
        </p:nvSpPr>
        <p:spPr>
          <a:xfrm>
            <a:off x="4480560" y="6217920"/>
            <a:ext cx="14630400" cy="777240"/>
          </a:xfrm>
          <a:prstGeom prst="rect">
            <a:avLst/>
          </a:prstGeom>
          <a:solidFill>
            <a:srgbClr val="E9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4480560" y="6217920"/>
            <a:ext cx="3803904" cy="777240"/>
          </a:xfrm>
          <a:prstGeom prst="rect">
            <a:avLst/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TextBox 911"/>
          <p:cNvSpPr txBox="1"/>
          <p:nvPr/>
        </p:nvSpPr>
        <p:spPr>
          <a:xfrm>
            <a:off x="19476720" y="6172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26%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1828800" y="74066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🐰 兔</a:t>
            </a:r>
          </a:p>
        </p:txBody>
      </p:sp>
      <p:sp>
        <p:nvSpPr>
          <p:cNvPr id="914" name="Rectangle 913"/>
          <p:cNvSpPr/>
          <p:nvPr/>
        </p:nvSpPr>
        <p:spPr>
          <a:xfrm>
            <a:off x="4480560" y="7452360"/>
            <a:ext cx="14630400" cy="777240"/>
          </a:xfrm>
          <a:prstGeom prst="rect">
            <a:avLst/>
          </a:prstGeom>
          <a:solidFill>
            <a:srgbClr val="E9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4480560" y="7452360"/>
            <a:ext cx="585216" cy="777240"/>
          </a:xfrm>
          <a:prstGeom prst="rect">
            <a:avLst/>
          </a:prstGeom>
          <a:solidFill>
            <a:srgbClr val="F4B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TextBox 915"/>
          <p:cNvSpPr txBox="1"/>
          <p:nvPr/>
        </p:nvSpPr>
        <p:spPr>
          <a:xfrm>
            <a:off x="19476720" y="74066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4%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1828800" y="8778240"/>
            <a:ext cx="2072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都變正、順序不變、加起來剛好 ＝ 1 　這就是</a:t>
            </a:r>
            <a:r>
              <a:rPr sz="2800" b="1" i="0">
                <a:solidFill>
                  <a:srgbClr val="5FA8C4"/>
                </a:solidFill>
                <a:latin typeface="Yuanti TC Bold"/>
                <a:ea typeface="Yuanti TC Bold"/>
                <a:cs typeface="Yuanti TC Bold"/>
              </a:rPr>
              <a:t>深度學習最常用的輸出層</a:t>
            </a:r>
            <a:r>
              <a:rPr sz="28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！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1828800" y="9784080"/>
            <a:ext cx="2072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（公式現在才出現，因為你們已經懂了：softmaxᵢ ＝ eˣⁱ ⁄ Σ eˣ）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92024" y="1285646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AI  不只是聊天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657600"/>
            <a:ext cx="2392680" cy="6604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中場休息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1828800" y="4754880"/>
            <a:ext cx="207267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2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換個氣，</a:t>
            </a:r>
            <a:r>
              <a:rPr sz="6200" b="1" i="0">
                <a:solidFill>
                  <a:srgbClr val="5FA8C4"/>
                </a:solidFill>
                <a:latin typeface="Noto Sans TC Bold"/>
                <a:ea typeface="Noto Sans TC Bold"/>
                <a:cs typeface="Noto Sans TC Bold"/>
              </a:rPr>
              <a:t>等等繼續潛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8288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喝口水、動一動，等等我們去看「唬爛王」的祕密！</a:t>
            </a:r>
          </a:p>
        </p:txBody>
      </p:sp>
      <p:pic>
        <p:nvPicPr>
          <p:cNvPr id="905" name="Picture 904" descr="dive_ha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0" y="5852160"/>
            <a:ext cx="574765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潛點 3｜LLM 其實在做什麼？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828800" y="3017520"/>
            <a:ext cx="207267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它在做的事，其實只有一件：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看前面的字，猜下一個字。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2926080" y="5943600"/>
            <a:ext cx="16093440" cy="2743200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 w="38100">
            <a:solidFill>
              <a:srgbClr val="5FA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3474720" y="6400800"/>
            <a:ext cx="14996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很像你天天在用的東西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手機輸入法的選字預測、玩文字接龍——LLM 就是這個，只是強太多了。它不是「查到真相」，而是「生成」一段接得下去的字。</a:t>
            </a:r>
          </a:p>
        </p:txBody>
      </p:sp>
      <p:pic>
        <p:nvPicPr>
          <p:cNvPr id="904" name="Picture 903" descr="div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0" y="6126479"/>
            <a:ext cx="382868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選字，就是用 softmax 選的！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828800" y="3017520"/>
            <a:ext cx="20726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每個字先給一個編號，模型對「下一個字」吐出一堆分數：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931920"/>
            <a:ext cx="4084396" cy="1554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前面的字</a:t>
            </a:r>
          </a:p>
        </p:txBody>
      </p:sp>
      <p:sp>
        <p:nvSpPr>
          <p:cNvPr id="903" name="Right Arrow 902"/>
          <p:cNvSpPr/>
          <p:nvPr/>
        </p:nvSpPr>
        <p:spPr>
          <a:xfrm>
            <a:off x="6278956" y="4434840"/>
            <a:ext cx="73152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4" name="Picture 903" descr="div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470" y="3698748"/>
            <a:ext cx="1923042" cy="2020824"/>
          </a:xfrm>
          <a:prstGeom prst="rect">
            <a:avLst/>
          </a:prstGeom>
        </p:spPr>
      </p:pic>
      <p:sp>
        <p:nvSpPr>
          <p:cNvPr id="905" name="Right Arrow 904"/>
          <p:cNvSpPr/>
          <p:nvPr/>
        </p:nvSpPr>
        <p:spPr>
          <a:xfrm>
            <a:off x="11826392" y="4434840"/>
            <a:ext cx="73152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ounded Rectangle 905"/>
          <p:cNvSpPr/>
          <p:nvPr/>
        </p:nvSpPr>
        <p:spPr>
          <a:xfrm>
            <a:off x="12923672" y="3931920"/>
            <a:ext cx="4084396" cy="1554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每個字的分數</a:t>
            </a:r>
          </a:p>
        </p:txBody>
      </p:sp>
      <p:sp>
        <p:nvSpPr>
          <p:cNvPr id="907" name="Right Arrow 906"/>
          <p:cNvSpPr/>
          <p:nvPr/>
        </p:nvSpPr>
        <p:spPr>
          <a:xfrm>
            <a:off x="17373828" y="4434840"/>
            <a:ext cx="73152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ounded Rectangle 907"/>
          <p:cNvSpPr/>
          <p:nvPr/>
        </p:nvSpPr>
        <p:spPr>
          <a:xfrm>
            <a:off x="18471108" y="3931920"/>
            <a:ext cx="4084396" cy="1554480"/>
          </a:xfrm>
          <a:prstGeom prst="roundRect">
            <a:avLst>
              <a:gd name="adj" fmla="val 22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softmax → 機率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828800" y="7040880"/>
            <a:ext cx="2072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還記得潛點二嗎？</a:t>
            </a:r>
            <a:r>
              <a:rPr sz="2600" b="1" i="0">
                <a:solidFill>
                  <a:srgbClr val="5FA8C4"/>
                </a:solidFill>
                <a:latin typeface="Yuanti TC Bold"/>
                <a:ea typeface="Yuanti TC Bold"/>
                <a:cs typeface="Yuanti TC Bold"/>
              </a:rPr>
              <a:t>softmax</a:t>
            </a:r>
            <a:r>
              <a:rPr sz="26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 把分數變成機率，再從裡面</a:t>
            </a:r>
            <a:r>
              <a:rPr sz="2600" b="1" i="0">
                <a:solidFill>
                  <a:srgbClr val="5FA8C4"/>
                </a:solidFill>
                <a:latin typeface="Yuanti TC Bold"/>
                <a:ea typeface="Yuanti TC Bold"/>
                <a:cs typeface="Yuanti TC Bold"/>
              </a:rPr>
              <a:t>抽一個字</a:t>
            </a:r>
            <a:r>
              <a:rPr sz="26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——這就是它「說話」的方式。</a:t>
            </a:r>
          </a:p>
        </p:txBody>
      </p:sp>
      <p:pic>
        <p:nvPicPr>
          <p:cNvPr id="910" name="Picture 909" descr="dive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0" y="8138159"/>
            <a:ext cx="359228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你們就是一台 LLM！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2578608"/>
            <a:ext cx="4232910" cy="5588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👥 真人 LLM・接龍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2286000" y="36576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今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977639" y="36576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天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5669280" y="36576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天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7360920" y="36576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氣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9052560" y="393192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5FA8C4"/>
                </a:solidFill>
                <a:latin typeface="Noto Sans TC Bold"/>
                <a:ea typeface="Noto Sans TC Bold"/>
                <a:cs typeface="Noto Sans TC Bold"/>
              </a:rPr>
              <a:t>→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10744200" y="36576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4FAFC"/>
          </a:solidFill>
          <a:ln w="381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？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12435840" y="36576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4FAFC"/>
          </a:solidFill>
          <a:ln w="381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？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14127480" y="36576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4FAFC"/>
          </a:solidFill>
          <a:ln w="381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…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1828800" y="5760720"/>
            <a:ext cx="15910559" cy="2560320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 w="38100">
            <a:solidFill>
              <a:srgbClr val="5FA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1" name="TextBox 910"/>
          <p:cNvSpPr txBox="1"/>
          <p:nvPr/>
        </p:nvSpPr>
        <p:spPr>
          <a:xfrm>
            <a:off x="2377440" y="6217920"/>
            <a:ext cx="1481328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玩法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給一個開頭，組內同學輪流、一次只加一個字，接成一句話。跟別組同開頭比比看——結果差多少？</a:t>
            </a:r>
          </a:p>
        </p:txBody>
      </p:sp>
      <p:pic>
        <p:nvPicPr>
          <p:cNvPr id="912" name="Picture 911" descr="stude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0" y="5394960"/>
            <a:ext cx="2970137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LLM 生成的，都是「幻覺」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828800" y="3200400"/>
            <a:ext cx="207267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它每一次都是「生成」，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不是「查到真相」。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2926080" y="6126479"/>
            <a:ext cx="16093440" cy="2743200"/>
          </a:xfrm>
          <a:prstGeom prst="roundRect">
            <a:avLst>
              <a:gd name="adj" fmla="val 12000"/>
            </a:avLst>
          </a:prstGeom>
          <a:solidFill>
            <a:srgbClr val="FDEDF0"/>
          </a:solidFill>
          <a:ln w="38100">
            <a:solidFill>
              <a:srgbClr val="F4B3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3474720" y="6583679"/>
            <a:ext cx="14996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所以要有批判性思考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特別是 AI 幫你寫的作業、報告——一定要讀完、真的懂、改過，變成你自己的東西，才能交出去。</a:t>
            </a:r>
          </a:p>
        </p:txBody>
      </p:sp>
      <p:pic>
        <p:nvPicPr>
          <p:cNvPr id="904" name="Picture 903" descr="dive_conf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0" y="6309360"/>
            <a:ext cx="355613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寫 Prompt 沒那麼難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3657600"/>
            <a:ext cx="9326880" cy="3474720"/>
          </a:xfrm>
          <a:prstGeom prst="roundRect">
            <a:avLst>
              <a:gd name="adj" fmla="val 16000"/>
            </a:avLst>
          </a:prstGeom>
          <a:solidFill>
            <a:srgbClr val="E9F4FA"/>
          </a:solidFill>
          <a:ln w="508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2" name="Rounded Rectangle 901"/>
          <p:cNvSpPr/>
          <p:nvPr/>
        </p:nvSpPr>
        <p:spPr>
          <a:xfrm>
            <a:off x="2286000" y="3246120"/>
            <a:ext cx="217932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重點 1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2423160" y="4343400"/>
            <a:ext cx="813815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提供正確的資訊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它不知道你腦中的背景——把該給的資料、條件講清楚。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13228624" y="3657600"/>
            <a:ext cx="9326880" cy="3474720"/>
          </a:xfrm>
          <a:prstGeom prst="roundRect">
            <a:avLst>
              <a:gd name="adj" fmla="val 16000"/>
            </a:avLst>
          </a:prstGeom>
          <a:solidFill>
            <a:srgbClr val="E4F5F4"/>
          </a:solidFill>
          <a:ln w="508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5" name="Rounded Rectangle 904"/>
          <p:cNvSpPr/>
          <p:nvPr/>
        </p:nvSpPr>
        <p:spPr>
          <a:xfrm>
            <a:off x="13685824" y="3246120"/>
            <a:ext cx="2179320" cy="558800"/>
          </a:xfrm>
          <a:prstGeom prst="roundRect">
            <a:avLst>
              <a:gd name="adj" fmla="val 50000"/>
            </a:avLst>
          </a:prstGeom>
          <a:solidFill>
            <a:srgbClr val="2E5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重點 2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13822984" y="4343400"/>
            <a:ext cx="813815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給清楚的指引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3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要它做什麼、輸出成什麼樣子、給誰看，講明白。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828800" y="7955279"/>
            <a:ext cx="2072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兩個重點而已：</a:t>
            </a:r>
            <a:r>
              <a:rPr sz="3000" b="1" i="0">
                <a:solidFill>
                  <a:srgbClr val="5FA8C4"/>
                </a:solidFill>
                <a:latin typeface="Yuanti TC Bold"/>
                <a:ea typeface="Yuanti TC Bold"/>
                <a:cs typeface="Yuanti TC Bold"/>
              </a:rPr>
              <a:t>正確的資訊 ＋ 清楚的指引</a:t>
            </a:r>
            <a:r>
              <a:rPr sz="30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。</a:t>
            </a:r>
          </a:p>
        </p:txBody>
      </p:sp>
      <p:pic>
        <p:nvPicPr>
          <p:cNvPr id="908" name="Picture 907" descr="div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0" y="8869680"/>
            <a:ext cx="3306588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必殺技：和 AI 一起「來回」工作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3505352" y="3383279"/>
            <a:ext cx="4572000" cy="14630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先粗略問</a:t>
            </a:r>
          </a:p>
        </p:txBody>
      </p:sp>
      <p:sp>
        <p:nvSpPr>
          <p:cNvPr id="902" name="Right Arrow 901"/>
          <p:cNvSpPr/>
          <p:nvPr/>
        </p:nvSpPr>
        <p:spPr>
          <a:xfrm>
            <a:off x="8580272" y="384048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ounded Rectangle 902"/>
          <p:cNvSpPr/>
          <p:nvPr/>
        </p:nvSpPr>
        <p:spPr>
          <a:xfrm>
            <a:off x="9906152" y="3383279"/>
            <a:ext cx="4572000" cy="14630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看結果</a:t>
            </a:r>
          </a:p>
        </p:txBody>
      </p:sp>
      <p:sp>
        <p:nvSpPr>
          <p:cNvPr id="904" name="Right Arrow 903"/>
          <p:cNvSpPr/>
          <p:nvPr/>
        </p:nvSpPr>
        <p:spPr>
          <a:xfrm>
            <a:off x="14981072" y="3840480"/>
            <a:ext cx="82296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ounded Rectangle 904"/>
          <p:cNvSpPr/>
          <p:nvPr/>
        </p:nvSpPr>
        <p:spPr>
          <a:xfrm>
            <a:off x="16306952" y="3383279"/>
            <a:ext cx="4572000" cy="1463040"/>
          </a:xfrm>
          <a:prstGeom prst="roundRect">
            <a:avLst>
              <a:gd name="adj" fmla="val 22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補資訊／加限制／給範例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1828800" y="5120640"/>
            <a:ext cx="20726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E2725C"/>
                </a:solidFill>
                <a:latin typeface="Noto Sans TC Bold"/>
                <a:ea typeface="Noto Sans TC Bold"/>
                <a:cs typeface="Noto Sans TC Bold"/>
              </a:rPr>
              <a:t>↻ 然後……再問一次！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2926080" y="6217920"/>
            <a:ext cx="16093440" cy="2377440"/>
          </a:xfrm>
          <a:prstGeom prst="roundRect">
            <a:avLst>
              <a:gd name="adj" fmla="val 12000"/>
            </a:avLst>
          </a:prstGeom>
          <a:solidFill>
            <a:srgbClr val="EAF6FB"/>
          </a:solidFill>
          <a:ln w="38100">
            <a:solidFill>
              <a:srgbClr val="5FA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3474720" y="6675120"/>
            <a:ext cx="1499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👥 快問快答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爛 prompt：「幫我寫報告。」——各組喊一句，你會補什麼讓它變清楚？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828800" y="9052559"/>
            <a:ext cx="2072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好 prompt 不是一次寫對的，是</a:t>
            </a:r>
            <a:r>
              <a:rPr sz="3000" b="1" i="0">
                <a:solidFill>
                  <a:srgbClr val="5FA8C4"/>
                </a:solidFill>
                <a:latin typeface="Yuanti TC Bold"/>
                <a:ea typeface="Yuanti TC Bold"/>
                <a:cs typeface="Yuanti TC Bold"/>
              </a:rPr>
              <a:t>磨</a:t>
            </a:r>
            <a:r>
              <a:rPr sz="30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出來的。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潛點 4｜教 AI 跑腿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828800" y="3017520"/>
            <a:ext cx="20726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6B7B85"/>
                </a:solidFill>
                <a:latin typeface="Yuanti TC Bold"/>
                <a:ea typeface="Yuanti TC Bold"/>
                <a:cs typeface="Yuanti TC Bold"/>
              </a:rPr>
              <a:t>不只「你問一句、它答一段」，而是為了達成目標，自己一步步行動：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931920"/>
            <a:ext cx="2494330" cy="1371600"/>
          </a:xfrm>
          <a:prstGeom prst="roundRect">
            <a:avLst>
              <a:gd name="adj" fmla="val 22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目標</a:t>
            </a:r>
          </a:p>
        </p:txBody>
      </p:sp>
      <p:sp>
        <p:nvSpPr>
          <p:cNvPr id="903" name="Right Arrow 902"/>
          <p:cNvSpPr/>
          <p:nvPr/>
        </p:nvSpPr>
        <p:spPr>
          <a:xfrm>
            <a:off x="4579162" y="4343400"/>
            <a:ext cx="64008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ounded Rectangle 903"/>
          <p:cNvSpPr/>
          <p:nvPr/>
        </p:nvSpPr>
        <p:spPr>
          <a:xfrm>
            <a:off x="5475274" y="3931920"/>
            <a:ext cx="249433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拆解任務</a:t>
            </a:r>
          </a:p>
        </p:txBody>
      </p:sp>
      <p:sp>
        <p:nvSpPr>
          <p:cNvPr id="905" name="Right Arrow 904"/>
          <p:cNvSpPr/>
          <p:nvPr/>
        </p:nvSpPr>
        <p:spPr>
          <a:xfrm>
            <a:off x="8225637" y="4343400"/>
            <a:ext cx="64008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ounded Rectangle 905"/>
          <p:cNvSpPr/>
          <p:nvPr/>
        </p:nvSpPr>
        <p:spPr>
          <a:xfrm>
            <a:off x="9121749" y="3931920"/>
            <a:ext cx="249433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用工具</a:t>
            </a:r>
          </a:p>
        </p:txBody>
      </p:sp>
      <p:sp>
        <p:nvSpPr>
          <p:cNvPr id="907" name="Right Arrow 906"/>
          <p:cNvSpPr/>
          <p:nvPr/>
        </p:nvSpPr>
        <p:spPr>
          <a:xfrm>
            <a:off x="11872112" y="4343400"/>
            <a:ext cx="64008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ounded Rectangle 907"/>
          <p:cNvSpPr/>
          <p:nvPr/>
        </p:nvSpPr>
        <p:spPr>
          <a:xfrm>
            <a:off x="12768224" y="3931920"/>
            <a:ext cx="249433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看結果</a:t>
            </a:r>
          </a:p>
        </p:txBody>
      </p:sp>
      <p:sp>
        <p:nvSpPr>
          <p:cNvPr id="909" name="Right Arrow 908"/>
          <p:cNvSpPr/>
          <p:nvPr/>
        </p:nvSpPr>
        <p:spPr>
          <a:xfrm>
            <a:off x="15518587" y="4343400"/>
            <a:ext cx="64008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ounded Rectangle 909"/>
          <p:cNvSpPr/>
          <p:nvPr/>
        </p:nvSpPr>
        <p:spPr>
          <a:xfrm>
            <a:off x="16414699" y="3931920"/>
            <a:ext cx="2494330" cy="1371600"/>
          </a:xfrm>
          <a:prstGeom prst="roundRect">
            <a:avLst>
              <a:gd name="adj" fmla="val 22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調整</a:t>
            </a:r>
          </a:p>
        </p:txBody>
      </p:sp>
      <p:sp>
        <p:nvSpPr>
          <p:cNvPr id="911" name="Right Arrow 910"/>
          <p:cNvSpPr/>
          <p:nvPr/>
        </p:nvSpPr>
        <p:spPr>
          <a:xfrm>
            <a:off x="19165062" y="4343400"/>
            <a:ext cx="640080" cy="548640"/>
          </a:xfrm>
          <a:prstGeom prst="rightArrow">
            <a:avLst/>
          </a:prstGeom>
          <a:solidFill>
            <a:srgbClr val="8FC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ounded Rectangle 911"/>
          <p:cNvSpPr/>
          <p:nvPr/>
        </p:nvSpPr>
        <p:spPr>
          <a:xfrm>
            <a:off x="20061174" y="3931920"/>
            <a:ext cx="249433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2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完成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1828800" y="6126479"/>
            <a:ext cx="2072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把「人怎麼把事做好」拆成步驟教給它——這就是 Agent（吳恩達的 agentic design pattern 也是這概念）。</a:t>
            </a:r>
          </a:p>
        </p:txBody>
      </p:sp>
      <p:pic>
        <p:nvPicPr>
          <p:cNvPr id="914" name="Picture 913" descr="div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0" y="7223759"/>
            <a:ext cx="382868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規劃一場班遊！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28800" y="2578608"/>
            <a:ext cx="5406390" cy="5588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👥 真人 Agent・角色分配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657600"/>
            <a:ext cx="6583680" cy="2834640"/>
          </a:xfrm>
          <a:prstGeom prst="roundRect">
            <a:avLst>
              <a:gd name="adj" fmla="val 16000"/>
            </a:avLst>
          </a:prstGeom>
          <a:solidFill>
            <a:srgbClr val="E9F4FA"/>
          </a:solidFill>
          <a:ln w="508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2331720" y="411480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🧠 LLM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22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只能用嘴巴想、說話，不准自己查任何東西。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8900312" y="3657600"/>
            <a:ext cx="6583680" cy="2834640"/>
          </a:xfrm>
          <a:prstGeom prst="roundRect">
            <a:avLst>
              <a:gd name="adj" fmla="val 16000"/>
            </a:avLst>
          </a:prstGeom>
          <a:solidFill>
            <a:srgbClr val="E4F5F4"/>
          </a:solidFill>
          <a:ln w="508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5" name="TextBox 904"/>
          <p:cNvSpPr txBox="1"/>
          <p:nvPr/>
        </p:nvSpPr>
        <p:spPr>
          <a:xfrm>
            <a:off x="9403232" y="411480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🔢 工具 A・計算機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22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只回答算式的答案。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15971824" y="3657600"/>
            <a:ext cx="6583680" cy="2834640"/>
          </a:xfrm>
          <a:prstGeom prst="roundRect">
            <a:avLst>
              <a:gd name="adj" fmla="val 16000"/>
            </a:avLst>
          </a:prstGeom>
          <a:solidFill>
            <a:srgbClr val="FDEDF0"/>
          </a:solidFill>
          <a:ln w="50800">
            <a:solidFill>
              <a:srgbClr val="F4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16474744" y="411480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🔍 工具 B・搜尋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22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可用手機查，只回傳查到的內容，不給意見。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1828800" y="7132320"/>
            <a:ext cx="6583680" cy="2834640"/>
          </a:xfrm>
          <a:prstGeom prst="roundRect">
            <a:avLst>
              <a:gd name="adj" fmla="val 16000"/>
            </a:avLst>
          </a:prstGeom>
          <a:solidFill>
            <a:srgbClr val="FFF7E0"/>
          </a:solidFill>
          <a:ln w="50800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2331720" y="758952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📅 工具 C・行事曆／地圖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22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回傳日期、路線之類的事實。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8900312" y="7132320"/>
            <a:ext cx="6583680" cy="2834640"/>
          </a:xfrm>
          <a:prstGeom prst="roundRect">
            <a:avLst>
              <a:gd name="adj" fmla="val 16000"/>
            </a:avLst>
          </a:prstGeom>
          <a:solidFill>
            <a:srgbClr val="EFEEF9"/>
          </a:solidFill>
          <a:ln w="50800">
            <a:solidFill>
              <a:srgbClr val="A9A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1" name="TextBox 910"/>
          <p:cNvSpPr txBox="1"/>
          <p:nvPr/>
        </p:nvSpPr>
        <p:spPr>
          <a:xfrm>
            <a:off x="9403232" y="758952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📝 記錄員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22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記下 LLM 每次「呼叫了哪個工具、輸入什麼」。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15971824" y="7132320"/>
            <a:ext cx="6583680" cy="2834640"/>
          </a:xfrm>
          <a:prstGeom prst="roundRect">
            <a:avLst>
              <a:gd name="adj" fmla="val 16000"/>
            </a:avLst>
          </a:prstGeom>
          <a:solidFill>
            <a:srgbClr val="FDEEE5"/>
          </a:solidFill>
          <a:ln w="50800">
            <a:solidFill>
              <a:srgbClr val="F0A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3" name="TextBox 912"/>
          <p:cNvSpPr txBox="1"/>
          <p:nvPr/>
        </p:nvSpPr>
        <p:spPr>
          <a:xfrm>
            <a:off x="16474744" y="758952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🎯 任務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22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每人 500 元內的班遊。LLM 每次要明說「我要呼叫○○，輸入是…」。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>
          <a:xfrm>
            <a:off x="3447288" y="1069848"/>
            <a:ext cx="18982944" cy="1261872"/>
          </a:xfrm>
        </p:spPr>
        <p:txBody>
          <a:bodyPr/>
          <a:lstStyle/>
          <a:p>
            <a:r>
              <a:t>自己越強，AI 就越強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828800" y="3383279"/>
            <a:ext cx="207267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你有專業、你清楚一件事該怎麼做，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40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你才有辦法教 AI、要它幫你做好。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3200400" y="6492240"/>
            <a:ext cx="15544800" cy="2194560"/>
          </a:xfrm>
          <a:prstGeom prst="roundRect">
            <a:avLst>
              <a:gd name="adj" fmla="val 14000"/>
            </a:avLst>
          </a:prstGeom>
          <a:solidFill>
            <a:srgbClr val="D6EEF6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3749039" y="6995159"/>
            <a:ext cx="1444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少了「懂的人」，AI 只是一台很會輸出、卻不知道自己在幹嘛的呆萌機器。</a:t>
            </a:r>
          </a:p>
        </p:txBody>
      </p:sp>
      <p:pic>
        <p:nvPicPr>
          <p:cNvPr id="904" name="Picture 903" descr="dive_ch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0" y="6309360"/>
            <a:ext cx="437289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92024" y="1285646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AI  不只是聊天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291840"/>
            <a:ext cx="3432810" cy="6604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👥 每組一句話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1828800" y="4572000"/>
            <a:ext cx="207267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今天最讓你「</a:t>
            </a:r>
            <a:r>
              <a:rPr sz="5800" b="1" i="0">
                <a:solidFill>
                  <a:srgbClr val="E2725C"/>
                </a:solidFill>
                <a:latin typeface="Noto Sans TC Bold"/>
                <a:ea typeface="Noto Sans TC Bold"/>
                <a:cs typeface="Noto Sans TC Bold"/>
              </a:rPr>
              <a:t>蛤？！</a:t>
            </a:r>
            <a:r>
              <a:rPr sz="5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」的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5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一件事是 ＿＿＿＿＿＿</a:t>
            </a:r>
          </a:p>
        </p:txBody>
      </p:sp>
      <p:sp>
        <p:nvSpPr>
          <p:cNvPr id="904" name="Rectangle 903"/>
          <p:cNvSpPr/>
          <p:nvPr/>
        </p:nvSpPr>
        <p:spPr>
          <a:xfrm>
            <a:off x="1828800" y="9692640"/>
            <a:ext cx="20726704" cy="109728"/>
          </a:xfrm>
          <a:prstGeom prst="rect">
            <a:avLst/>
          </a:prstGeom>
          <a:solidFill>
            <a:srgbClr val="D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320000" y="12772592"/>
            <a:ext cx="822960" cy="762001"/>
          </a:xfrm>
          <a:prstGeom prst="rect">
            <a:avLst/>
          </a:prstGeom>
        </p:spPr>
        <p:txBody>
          <a:bodyPr/>
          <a:lstStyle/>
          <a:p>
            <a:pPr algn="ctr"/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901" name="TextBox 900"/>
          <p:cNvSpPr txBox="1"/>
          <p:nvPr/>
        </p:nvSpPr>
        <p:spPr>
          <a:xfrm>
            <a:off x="192024" y="1285646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AI  不只是聊天</a:t>
            </a:r>
          </a:p>
        </p:txBody>
      </p:sp>
      <p:sp>
        <p:nvSpPr>
          <p:cNvPr id="902" name="Rounded Rectangle 901"/>
          <p:cNvSpPr/>
          <p:nvPr/>
        </p:nvSpPr>
        <p:spPr>
          <a:xfrm>
            <a:off x="1828800" y="3108960"/>
            <a:ext cx="3086100" cy="660400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</a:rPr>
              <a:t>下潛完成 🤿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1828800" y="4206240"/>
            <a:ext cx="1600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AI 會接龍，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5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但你的</a:t>
            </a:r>
            <a:r>
              <a:rPr sz="5800" b="1" i="0">
                <a:solidFill>
                  <a:srgbClr val="5FA8C4"/>
                </a:solidFill>
                <a:latin typeface="Noto Sans TC Bold"/>
                <a:ea typeface="Noto Sans TC Bold"/>
                <a:cs typeface="Noto Sans TC Bold"/>
              </a:rPr>
              <a:t>人生劇本</a:t>
            </a:r>
            <a:r>
              <a:rPr sz="5800" b="1" i="0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</a:rPr>
              <a:t>要自己寫。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1828800" y="8412480"/>
            <a:ext cx="3840480" cy="11887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課程連結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035040" y="8412480"/>
            <a:ext cx="3840480" cy="11887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YouTube 頻道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10241280" y="8412480"/>
            <a:ext cx="3840480" cy="11887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F4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推薦免費工具</a:t>
            </a:r>
          </a:p>
        </p:txBody>
      </p:sp>
      <p:pic>
        <p:nvPicPr>
          <p:cNvPr id="907" name="Picture 906" descr="dive_ha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0" y="5486400"/>
            <a:ext cx="5927271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>
          <a:alpha val="70167"/>
        </a:srgbClr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Bold"/>
        <a:ea typeface="Noto Sans TC Bold"/>
        <a:cs typeface="Noto Sans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 Sans TC Bold"/>
            <a:ea typeface="Noto Sans TC Bold"/>
            <a:cs typeface="Noto Sans TC Bold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Bold"/>
        <a:ea typeface="Noto Sans TC Bold"/>
        <a:cs typeface="Noto Sans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 Sans TC Bold"/>
            <a:ea typeface="Noto Sans TC Bold"/>
            <a:cs typeface="Noto Sans TC Bold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自訂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Noto Sans TC Thin Bold</vt:lpstr>
      <vt:lpstr>NotoSansTC-Thin_Bold</vt:lpstr>
      <vt:lpstr>Yuanti TC Bold</vt:lpstr>
      <vt:lpstr>Helvetica Neue</vt:lpstr>
      <vt:lpstr>Microsoft Sans Serif</vt:lpstr>
      <vt:lpstr>21_BasicWhite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炎龍 蔡</cp:lastModifiedBy>
  <cp:revision>1</cp:revision>
  <dcterms:modified xsi:type="dcterms:W3CDTF">2026-08-25T09:58:15Z</dcterms:modified>
</cp:coreProperties>
</file>